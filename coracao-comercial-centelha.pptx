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4114800" cy="4114800"/>
          </a:xfrm>
          <a:prstGeom prst="ellipse">
            <a:avLst/>
          </a:prstGeom>
          <a:solidFill>
            <a:srgbClr val="A8192C">
              <a:alpha val="24000"/>
            </a:srgbClr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3108960"/>
            <a:ext cx="2926080" cy="2926080"/>
          </a:xfrm>
          <a:prstGeom prst="ellipse">
            <a:avLst/>
          </a:prstGeom>
          <a:solidFill>
            <a:srgbClr val="A8192C">
              <a:alpha val="20000"/>
            </a:srgbClr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3566160"/>
            <a:ext cx="1463040" cy="1463040"/>
          </a:xfrm>
          <a:prstGeom prst="ellipse">
            <a:avLst/>
          </a:prstGeom>
          <a:solidFill>
            <a:srgbClr val="D02035">
              <a:alpha val="32000"/>
            </a:srgbClr>
          </a:solidFill>
          <a:ln w="12700">
            <a:solidFill>
              <a:srgbClr val="D020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572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32588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CORAÇÃO COMERCIAL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2926080" y="2148840"/>
            <a:ext cx="3291840" cy="45720"/>
          </a:xfrm>
          <a:prstGeom prst="rect">
            <a:avLst/>
          </a:prstGeom>
          <a:solidFill>
            <a:srgbClr val="D02035"/>
          </a:solidFill>
          <a:ln w="12700">
            <a:solidFill>
              <a:srgbClr val="D020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2677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Negócios Locais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27066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consumidores aos comércios da sua cidade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3616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CENTELHA  ·  FINEP / MCTI  ·  Fevereiro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do mercado: pequenos negócios invisíveis no digital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192024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15568"/>
            <a:ext cx="1920240" cy="64008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243584"/>
            <a:ext cx="640080" cy="640080"/>
          </a:xfrm>
          <a:prstGeom prst="ellipse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62456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0116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19M+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20040" y="27157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MEIs e Micro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no Brasil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267712" y="1115568"/>
            <a:ext cx="192024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67712" y="1115568"/>
            <a:ext cx="19202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07792" y="1243584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664" y="1362456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13432" y="20116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3400" dirty="0"/>
          </a:p>
        </p:txBody>
      </p:sp>
      <p:sp>
        <p:nvSpPr>
          <p:cNvPr id="16" name="Text 12"/>
          <p:cNvSpPr/>
          <p:nvPr/>
        </p:nvSpPr>
        <p:spPr>
          <a:xfrm>
            <a:off x="2359152" y="27157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presença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adequada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306824" y="1115568"/>
            <a:ext cx="192024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306824" y="1115568"/>
            <a:ext cx="19202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46904" y="1243584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1362456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352544" y="20116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3–5x</a:t>
            </a:r>
            <a:endParaRPr lang="en-US" sz="3400" dirty="0"/>
          </a:p>
        </p:txBody>
      </p:sp>
      <p:sp>
        <p:nvSpPr>
          <p:cNvPr id="22" name="Text 17"/>
          <p:cNvSpPr/>
          <p:nvPr/>
        </p:nvSpPr>
        <p:spPr>
          <a:xfrm>
            <a:off x="4398264" y="27157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para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1 serviço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345936" y="1115568"/>
            <a:ext cx="192024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45936" y="1115568"/>
            <a:ext cx="19202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986016" y="1243584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1362456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391656" y="20116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3400" dirty="0"/>
          </a:p>
        </p:txBody>
      </p:sp>
      <p:sp>
        <p:nvSpPr>
          <p:cNvPr id="28" name="Text 22"/>
          <p:cNvSpPr/>
          <p:nvPr/>
        </p:nvSpPr>
        <p:spPr>
          <a:xfrm>
            <a:off x="6437376" y="27157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preferem comprar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negócios locais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228600" y="4828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SEBRAE 2024, IBGE, DataFolha, pesquisa própria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NOSSA SOLUÇÃO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Comercial: um ecossistema local em um só lugar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11155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150876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marketplace que centraliza a descoberta, avaliação e conexão com negócios locais — para consumidores e comerciantes.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37744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35915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filtro por 18 categorias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6148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" y="274320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avaliações e reviews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4553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792" y="31272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direto com o comerciante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52958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792" y="351129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em tempo real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913632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1792" y="389534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 para empresários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297680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21792" y="427939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Freemium (Free / Pro)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4846320" y="987552"/>
            <a:ext cx="4069080" cy="3749040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1097280"/>
            <a:ext cx="713232" cy="7132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937760" y="19019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Proposta de Valor</a:t>
            </a:r>
            <a:endParaRPr lang="en-US" sz="1500" dirty="0"/>
          </a:p>
        </p:txBody>
      </p:sp>
      <p:sp>
        <p:nvSpPr>
          <p:cNvPr id="22" name="Shape 13"/>
          <p:cNvSpPr/>
          <p:nvPr/>
        </p:nvSpPr>
        <p:spPr>
          <a:xfrm>
            <a:off x="4983480" y="2359152"/>
            <a:ext cx="3794760" cy="640080"/>
          </a:xfrm>
          <a:prstGeom prst="rect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5120640" y="239572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consumidor: encontre, compare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contate negócios locais em segundos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4983480" y="3108960"/>
            <a:ext cx="3794760" cy="640080"/>
          </a:xfrm>
          <a:prstGeom prst="rect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5120640" y="314553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comerciante: presença digital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gratuitamente + analytics de crescimento</a:t>
            </a:r>
            <a:endParaRPr lang="en-US" sz="1100" dirty="0"/>
          </a:p>
        </p:txBody>
      </p:sp>
      <p:sp>
        <p:nvSpPr>
          <p:cNvPr id="26" name="Shape 17"/>
          <p:cNvSpPr/>
          <p:nvPr/>
        </p:nvSpPr>
        <p:spPr>
          <a:xfrm>
            <a:off x="4983480" y="3858768"/>
            <a:ext cx="3794760" cy="640080"/>
          </a:xfrm>
          <a:prstGeom prst="rect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5120640" y="389534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comunidade: impulsione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local do seu bairro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MERCADO ENDEREÇÁVEL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de R$ 45 bilhões no mercado de negócios locais no Brasil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303520" cy="3840480"/>
          </a:xfrm>
          <a:prstGeom prst="ellipse">
            <a:avLst/>
          </a:prstGeom>
          <a:solidFill>
            <a:srgbClr val="A8192C">
              <a:alpha val="14000"/>
            </a:srgbClr>
          </a:solidFill>
          <a:ln w="19050">
            <a:solidFill>
              <a:srgbClr val="A819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463040"/>
            <a:ext cx="4023360" cy="2834640"/>
          </a:xfrm>
          <a:prstGeom prst="ellipse">
            <a:avLst/>
          </a:prstGeom>
          <a:solidFill>
            <a:srgbClr val="A8192C">
              <a:alpha val="28000"/>
            </a:srgbClr>
          </a:solidFill>
          <a:ln w="19050">
            <a:solidFill>
              <a:srgbClr val="A819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029968"/>
            <a:ext cx="2377440" cy="1691640"/>
          </a:xfrm>
          <a:prstGeom prst="ellipse">
            <a:avLst/>
          </a:prstGeom>
          <a:solidFill>
            <a:srgbClr val="A8192C">
              <a:alpha val="55000"/>
            </a:srgbClr>
          </a:solidFill>
          <a:ln w="19050">
            <a:solidFill>
              <a:srgbClr val="A81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97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6002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32186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960120"/>
            <a:ext cx="3063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960120"/>
            <a:ext cx="73152" cy="1261872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0515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66560" y="1014984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R$ 45B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35040" y="1435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Available Market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digital para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negócios no Brasil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2350008"/>
            <a:ext cx="3063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2350008"/>
            <a:ext cx="73152" cy="1261872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4414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0" y="2404872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R$ 8B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35040" y="2825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e diretórios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cidades brasileiras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52160" y="3739896"/>
            <a:ext cx="3063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0" y="3739896"/>
            <a:ext cx="73152" cy="1261872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8313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66560" y="379476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R$ 120M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035040" y="421538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realista em 3 anos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(capitais + cidades médias)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dois lados: consumidores e comerciantes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24528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" y="109728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698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o Consumidor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56616" y="1764792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6616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05256" y="1728216"/>
            <a:ext cx="3438144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1755648"/>
            <a:ext cx="3310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categoria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nome do negócio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6616" y="2551176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05256" y="2514600"/>
            <a:ext cx="3438144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2542032"/>
            <a:ext cx="3310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ratings,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e localização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56616" y="333756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05256" y="3300984"/>
            <a:ext cx="3438144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3328416"/>
            <a:ext cx="3310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Contata via chat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marca favoritos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56616" y="4123944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6616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05256" y="4087368"/>
            <a:ext cx="3438144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4114800"/>
            <a:ext cx="3310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o serviço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recebido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36592" y="1005840"/>
            <a:ext cx="4224528" cy="621792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097280"/>
            <a:ext cx="420624" cy="42062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76672" y="10698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o Empresário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4864608" y="1764792"/>
            <a:ext cx="457200" cy="457200"/>
          </a:xfrm>
          <a:prstGeom prst="ellipse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864608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5413248" y="1728216"/>
            <a:ext cx="3438144" cy="566928"/>
          </a:xfrm>
          <a:prstGeom prst="rect">
            <a:avLst/>
          </a:prstGeom>
          <a:solidFill>
            <a:srgbClr val="FFF0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513832" y="1755648"/>
            <a:ext cx="3310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 o negócio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gratuitamente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864608" y="2551176"/>
            <a:ext cx="457200" cy="457200"/>
          </a:xfrm>
          <a:prstGeom prst="ellipse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64608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5413248" y="2514600"/>
            <a:ext cx="3438144" cy="566928"/>
          </a:xfrm>
          <a:prstGeom prst="rect">
            <a:avLst/>
          </a:prstGeom>
          <a:solidFill>
            <a:srgbClr val="FFF0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513832" y="2542032"/>
            <a:ext cx="3310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perfil 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e horários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864608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5413248" y="3300984"/>
            <a:ext cx="3438144" cy="566928"/>
          </a:xfrm>
          <a:prstGeom prst="rect">
            <a:avLst/>
          </a:prstGeom>
          <a:solidFill>
            <a:srgbClr val="FFF0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513832" y="3328416"/>
            <a:ext cx="3310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clientes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avaliações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4864608" y="4123944"/>
            <a:ext cx="457200" cy="457200"/>
          </a:xfrm>
          <a:prstGeom prst="ellipse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864608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5413248" y="4087368"/>
            <a:ext cx="3438144" cy="566928"/>
          </a:xfrm>
          <a:prstGeom prst="rect">
            <a:avLst/>
          </a:prstGeom>
          <a:solidFill>
            <a:srgbClr val="FFF0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513832" y="4114800"/>
            <a:ext cx="3310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métricas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5240">
            <a:solidFill>
              <a:srgbClr val="D1D5DB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DIFERENCIAIS COMPETITIVOS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Coração Comercial vence a concorrência?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005840"/>
            <a:ext cx="2834640" cy="47548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058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1005840"/>
            <a:ext cx="1444752" cy="475488"/>
          </a:xfrm>
          <a:prstGeom prst="rect">
            <a:avLst/>
          </a:prstGeom>
          <a:solidFill>
            <a:srgbClr val="A819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00584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Coração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02352" y="1005840"/>
            <a:ext cx="1444752" cy="475488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2352" y="100584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47104" y="1005840"/>
            <a:ext cx="1444752" cy="475488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7104" y="100584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91856" y="1005840"/>
            <a:ext cx="1444752" cy="475488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91856" y="100584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iFood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436608" y="1005840"/>
            <a:ext cx="1444752" cy="475488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36608" y="100584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 BR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1481328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14813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100% hiperlocal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0" y="1481328"/>
            <a:ext cx="1444752" cy="475488"/>
          </a:xfrm>
          <a:prstGeom prst="rect">
            <a:avLst/>
          </a:prstGeom>
          <a:solidFill>
            <a:srgbClr val="FFF0F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148132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02352" y="1481328"/>
            <a:ext cx="1444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148132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47104" y="1481328"/>
            <a:ext cx="1444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7104" y="148132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991856" y="1481328"/>
            <a:ext cx="1444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91856" y="148132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436608" y="1481328"/>
            <a:ext cx="1444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36608" y="148132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2960" y="1956816"/>
            <a:ext cx="2834640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19568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integrado c/ negócio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7600" y="1956816"/>
            <a:ext cx="1444752" cy="475488"/>
          </a:xfrm>
          <a:prstGeom prst="rect">
            <a:avLst/>
          </a:prstGeom>
          <a:solidFill>
            <a:srgbClr val="FFE5E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195681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02352" y="1956816"/>
            <a:ext cx="1444752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195681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47104" y="1956816"/>
            <a:ext cx="1444752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47104" y="195681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991856" y="1956816"/>
            <a:ext cx="1444752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91856" y="195681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436608" y="1956816"/>
            <a:ext cx="1444752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36608" y="195681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2960" y="2432304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243230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negócios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657600" y="2432304"/>
            <a:ext cx="1444752" cy="475488"/>
          </a:xfrm>
          <a:prstGeom prst="rect">
            <a:avLst/>
          </a:prstGeom>
          <a:solidFill>
            <a:srgbClr val="FFF0F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0" y="2432304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102352" y="2432304"/>
            <a:ext cx="1444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02352" y="2432304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547104" y="2432304"/>
            <a:ext cx="1444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47104" y="2432304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991856" y="2432304"/>
            <a:ext cx="1444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91856" y="2432304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436608" y="2432304"/>
            <a:ext cx="1444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36608" y="2432304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2960" y="2907792"/>
            <a:ext cx="2834640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29077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para empresário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657600" y="2907792"/>
            <a:ext cx="1444752" cy="475488"/>
          </a:xfrm>
          <a:prstGeom prst="rect">
            <a:avLst/>
          </a:prstGeom>
          <a:solidFill>
            <a:srgbClr val="FFE5E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0" y="290779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102352" y="2907792"/>
            <a:ext cx="1444752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02352" y="290779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547104" y="2907792"/>
            <a:ext cx="1444752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47104" y="290779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991856" y="2907792"/>
            <a:ext cx="1444752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91856" y="290779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436608" y="2907792"/>
            <a:ext cx="1444752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436608" y="290779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2960" y="3383280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4400" y="33832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gratuito permanente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3657600" y="3383280"/>
            <a:ext cx="1444752" cy="475488"/>
          </a:xfrm>
          <a:prstGeom prst="rect">
            <a:avLst/>
          </a:prstGeom>
          <a:solidFill>
            <a:srgbClr val="FFF0F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0" y="338328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102352" y="3383280"/>
            <a:ext cx="1444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02352" y="338328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547104" y="3383280"/>
            <a:ext cx="1444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47104" y="338328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991856" y="3383280"/>
            <a:ext cx="1444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91856" y="338328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436608" y="3383280"/>
            <a:ext cx="1444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436608" y="338328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22960" y="3858768"/>
            <a:ext cx="2834640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14400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Multi-categoria (18 tipos)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3657600" y="3858768"/>
            <a:ext cx="1444752" cy="475488"/>
          </a:xfrm>
          <a:prstGeom prst="rect">
            <a:avLst/>
          </a:prstGeom>
          <a:solidFill>
            <a:srgbClr val="FFE5E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0" y="385876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5102352" y="3858768"/>
            <a:ext cx="1444752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102352" y="385876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547104" y="3858768"/>
            <a:ext cx="1444752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47104" y="385876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7991856" y="3858768"/>
            <a:ext cx="1444752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991856" y="385876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9436608" y="3858768"/>
            <a:ext cx="1444752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436608" y="385876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822960" y="4334256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14400" y="433425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verificadas</a:t>
            </a:r>
            <a:endParaRPr lang="en-US" sz="1150" dirty="0"/>
          </a:p>
        </p:txBody>
      </p:sp>
      <p:sp>
        <p:nvSpPr>
          <p:cNvPr id="91" name="Shape 89"/>
          <p:cNvSpPr/>
          <p:nvPr/>
        </p:nvSpPr>
        <p:spPr>
          <a:xfrm>
            <a:off x="3657600" y="4334256"/>
            <a:ext cx="1444752" cy="475488"/>
          </a:xfrm>
          <a:prstGeom prst="rect">
            <a:avLst/>
          </a:prstGeom>
          <a:solidFill>
            <a:srgbClr val="FFF0F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657600" y="433425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5102352" y="4334256"/>
            <a:ext cx="1444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102352" y="433425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6547104" y="4334256"/>
            <a:ext cx="1444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547104" y="433425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7991856" y="4334256"/>
            <a:ext cx="1444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91856" y="433425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9436608" y="4334256"/>
            <a:ext cx="1444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436608" y="433425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NEGÓCIO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Freemium: entrada gratuita, crescimento via plano Pro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794760" cy="37307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33956" y="1005840"/>
            <a:ext cx="841248" cy="841248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1133856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92024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 FREE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235915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R$ 0 / mês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22960" y="2834640"/>
            <a:ext cx="30632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90779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Perfil público completo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3232" y="318211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Aparece nas buscas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3232" y="345643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Recebe avaliações de clientes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3232" y="373075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Chat com clientes (limitado)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3232" y="400507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1 foto de capa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3232" y="427939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Até 10 mensagens/mês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92040" y="914400"/>
            <a:ext cx="3794760" cy="3730752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68796" y="1005840"/>
            <a:ext cx="841248" cy="841248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1133856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983480" y="192024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 PRO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4983480" y="235915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R$ 49 / mês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5257800" y="2834640"/>
            <a:ext cx="30632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48072" y="290779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Tudo do plano Free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148072" y="318211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Boost no ranking de busca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148072" y="345643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Fotos ilimitadas no perfil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148072" y="373075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Analytics avançado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148072" y="400507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Mensagens ilimitadas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148072" y="427939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Destaque na categoria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47640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futuras: anúncios segmentados  ·  destaque pago  ·  API para parceiros  ·  relatórios de mercado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A8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 SOCIAL &amp; INOVAÇÃO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 aos objetivos do Programa CENTELHA e da agenda de inovação nacional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1170432"/>
            <a:ext cx="1920240" cy="254203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261872"/>
            <a:ext cx="694944" cy="694944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8988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" y="20482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Economia Local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7472" y="2487168"/>
            <a:ext cx="1737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Empodera micro e pequenos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empresários com ferramentas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marketing gratuitas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95144" y="1170432"/>
            <a:ext cx="1920240" cy="254203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07792" y="1261872"/>
            <a:ext cx="694944" cy="694944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664" y="138988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68296" y="20482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Inclusão Digital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386584" y="2487168"/>
            <a:ext cx="1737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Democratiza o acesso 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online para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MEIs em todo o Brasil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34256" y="1170432"/>
            <a:ext cx="1920240" cy="254203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46904" y="1261872"/>
            <a:ext cx="694944" cy="694944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138988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07408" y="20482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Coesão Comunitária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425696" y="2487168"/>
            <a:ext cx="1737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 vínculos entre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consumidores e negócios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próprio bairro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73368" y="1170432"/>
            <a:ext cx="1920240" cy="254203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86016" y="1261872"/>
            <a:ext cx="694944" cy="694944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138988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46520" y="20482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Inovação Tecnológica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64808" y="2487168"/>
            <a:ext cx="1737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moderna e escalável,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preparada para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usuários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65760" y="3886200"/>
            <a:ext cx="8412480" cy="658368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57200" y="40050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 com ODS 8 (Trabalho Decente e Crescimento Econômico) e ODS 10 (Redução das Desigualdades) — Agenda 2030 da ONU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moderna, escalável e segura — pronta para 1M+ usuários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4320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069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06984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93192" y="1755648"/>
            <a:ext cx="118872" cy="1188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66420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93192" y="2267712"/>
            <a:ext cx="118872" cy="1188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17627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v3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93192" y="2779776"/>
            <a:ext cx="118872" cy="1188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268833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3192" y="3291840"/>
            <a:ext cx="118872" cy="1188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320040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93192" y="3803904"/>
            <a:ext cx="118872" cy="1188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3712464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design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154680" y="1005840"/>
            <a:ext cx="274320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154680" y="1005840"/>
            <a:ext cx="27432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069848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703320" y="106984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3319272" y="1755648"/>
            <a:ext cx="118872" cy="1188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20440" y="166420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+ TypeScript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319272" y="2267712"/>
            <a:ext cx="118872" cy="1188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20440" y="217627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 / SQLite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3319272" y="2779776"/>
            <a:ext cx="118872" cy="1188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520440" y="268833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Passport.js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3319272" y="3291840"/>
            <a:ext cx="118872" cy="1188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520440" y="320040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(senhas)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319272" y="3803904"/>
            <a:ext cx="118872" cy="1188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520440" y="3712464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validada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080760" y="1005840"/>
            <a:ext cx="274320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080760" y="100584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069848"/>
            <a:ext cx="347472" cy="34747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629400" y="106984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6245352" y="1755648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446520" y="166420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(Yarn v4)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6245352" y="2267712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446520" y="217627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Vercel + Railway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6245352" y="2779776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446520" y="268833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GitHub Actions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6245352" y="329184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446520" y="320040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(produção)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6245352" y="3803904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446520" y="3712464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CORS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228600" y="4617720"/>
            <a:ext cx="8686800" cy="402336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320040" y="466344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preparada para escalar de MVP a produção em larga escala sem reescrita completa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TRAÇÃO &amp; PRÓXIMOS PASSOS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ideia ao produto nacional: roadmap de 18 meses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237744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0698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MVP em desenvolvimento ativo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1709928"/>
            <a:ext cx="329184" cy="329184"/>
          </a:xfrm>
          <a:prstGeom prst="ellipse">
            <a:avLst/>
          </a:prstGeom>
          <a:solidFill>
            <a:srgbClr val="A8192C"/>
          </a:solidFill>
          <a:ln w="25400">
            <a:solidFill>
              <a:srgbClr val="A819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84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MVP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8163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50 negócios cadastrados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 cidades piloto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5844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App mobile v1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61488" y="1709928"/>
            <a:ext cx="329184" cy="329184"/>
          </a:xfrm>
          <a:prstGeom prst="ellipse">
            <a:avLst/>
          </a:prstGeom>
          <a:solidFill>
            <a:srgbClr val="D1D5DB"/>
          </a:solidFill>
          <a:ln w="2540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2084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48840" y="28163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500 negócios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3200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 cidades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8840" y="35844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Plano Pro lançado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07408" y="1709928"/>
            <a:ext cx="329184" cy="329184"/>
          </a:xfrm>
          <a:prstGeom prst="ellipse">
            <a:avLst/>
          </a:prstGeom>
          <a:solidFill>
            <a:srgbClr val="D1D5DB"/>
          </a:solidFill>
          <a:ln w="25400">
            <a:solidFill>
              <a:srgbClr val="9CA3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084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Monetização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94760" y="28163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R$ 20k MRR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94760" y="3200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1.000 negócios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94760" y="35844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de parceiros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53328" y="1709928"/>
            <a:ext cx="329184" cy="329184"/>
          </a:xfrm>
          <a:prstGeom prst="ellipse">
            <a:avLst/>
          </a:prstGeom>
          <a:solidFill>
            <a:srgbClr val="D1D5DB"/>
          </a:solidFill>
          <a:ln w="25400">
            <a:solidFill>
              <a:srgbClr val="9CA3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084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2026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Nacional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40680" y="28163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5.000 negócios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3200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30 cidades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40680" y="35844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R$ 80k MRR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99248" y="1709928"/>
            <a:ext cx="329184" cy="329184"/>
          </a:xfrm>
          <a:prstGeom prst="ellipse">
            <a:avLst/>
          </a:prstGeom>
          <a:solidFill>
            <a:srgbClr val="D1D5DB"/>
          </a:solidFill>
          <a:ln w="25400">
            <a:solidFill>
              <a:srgbClr val="9CA3A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2084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2027+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86600" y="28163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50k negócios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86600" y="3200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Todas as capitais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86600" y="35844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Série 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71830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2027: 50.000 negócios  ·  100 cidades  ·  R$ 500k ARR  ·  Presença em todo o Brasil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Fundadores comprometidos com a transformação dos negócios locais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7860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71016" y="1078992"/>
            <a:ext cx="950976" cy="950976"/>
          </a:xfrm>
          <a:prstGeom prst="ellipse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243584"/>
            <a:ext cx="621792" cy="621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2140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Rafael Costa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3232" y="2542032"/>
            <a:ext cx="2066544" cy="292608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254203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Co-fundador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5216" y="2889504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Empreendedor em série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anos em produto digital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47288" y="1005840"/>
            <a:ext cx="257860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61104" y="1078992"/>
            <a:ext cx="950976" cy="950976"/>
          </a:xfrm>
          <a:prstGeom prst="ellipse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243584"/>
            <a:ext cx="621792" cy="6217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8728" y="212140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[Co-fundador]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703320" y="2542032"/>
            <a:ext cx="2066544" cy="292608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703320" y="254203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Co-fundador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575304" y="2889504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sistemas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Cloud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em startups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37376" y="1005840"/>
            <a:ext cx="2578608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251192" y="1078992"/>
            <a:ext cx="950976" cy="950976"/>
          </a:xfrm>
          <a:prstGeom prst="ellipse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784" y="1243584"/>
            <a:ext cx="621792" cy="6217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28816" y="212140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[Co-fundador]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693408" y="2542032"/>
            <a:ext cx="2066544" cy="292608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693408" y="254203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&amp; Co-fundador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565392" y="2889504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digital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 de usuários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 growth hacking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57200" y="4069080"/>
            <a:ext cx="8229600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94360" y="418795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Buscando advisors em: finanças, jurídico e expansão de negócios  ·  Abertos a mentoria do Programa CENTELHA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81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INVESTIMENTO SOLICITADO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R$ 120.000 para acelerar o crescimento do Coração Comercial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914400"/>
            <a:ext cx="3657600" cy="896112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0" y="9509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R$ 120.000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0" y="14264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solicitado ao Programa CENTELHA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2221992"/>
            <a:ext cx="667512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2221992"/>
            <a:ext cx="2670048" cy="310896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14884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1792" y="213055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Tecnológica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" y="242316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— R$ 48.000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645920" y="2953512"/>
            <a:ext cx="667512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45920" y="2953512"/>
            <a:ext cx="2002536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880360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1792" y="286207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 Aquisição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21792" y="31546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— R$ 36.000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645920" y="3685032"/>
            <a:ext cx="667512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645920" y="3685032"/>
            <a:ext cx="1335024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61188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" y="359359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e Logística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1792" y="38862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— R$ 24.000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645920" y="4416552"/>
            <a:ext cx="667512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645920" y="4416552"/>
            <a:ext cx="667512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434340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1792" y="432511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P&amp;D e Novos Recursos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21792" y="461772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— R$ 12.000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228600" y="4681728"/>
            <a:ext cx="8686800" cy="3657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20040" y="47274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Projeção: break-even em 18 meses  ·  ROI esperado: 5x em 36 meses  ·  Uso exclusivo para crescimento do produto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005840"/>
            <a:ext cx="3840480" cy="3840480"/>
          </a:xfrm>
          <a:prstGeom prst="ellipse">
            <a:avLst/>
          </a:prstGeom>
          <a:solidFill>
            <a:srgbClr val="A8192C">
              <a:alpha val="24000"/>
            </a:srgbClr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017520"/>
            <a:ext cx="2743200" cy="2743200"/>
          </a:xfrm>
          <a:prstGeom prst="ellipse">
            <a:avLst/>
          </a:prstGeom>
          <a:solidFill>
            <a:srgbClr val="A8192C">
              <a:alpha val="20000"/>
            </a:srgbClr>
          </a:solidFill>
          <a:ln w="12700">
            <a:solidFill>
              <a:srgbClr val="A8192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57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533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3200400" y="2121408"/>
            <a:ext cx="2743200" cy="45720"/>
          </a:xfrm>
          <a:prstGeom prst="rect">
            <a:avLst/>
          </a:prstGeom>
          <a:solidFill>
            <a:srgbClr val="D02035"/>
          </a:solidFill>
          <a:ln w="12700">
            <a:solidFill>
              <a:srgbClr val="D020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2311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4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Coração Comercial — Conectando você ao comércio local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28163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contato@coracaocomercial.com.br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828800" y="321868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www.coracaocomercial.com.br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28800" y="362102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linkedin.com/company/coracao-comercial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A8192C"/>
          </a:solidFill>
          <a:ln w="12700">
            <a:solidFill>
              <a:srgbClr val="A819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3616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CENTELHA  ·  FINEP / MCTI  ·  Fevereiro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Coração Comercial — CENTELHA 2026</dc:title>
  <dc:subject>PptxGenJS Presentation</dc:subject>
  <dc:creator>Coração Comercial</dc:creator>
  <cp:lastModifiedBy>Coração Comercial</cp:lastModifiedBy>
  <cp:revision>1</cp:revision>
  <dcterms:created xsi:type="dcterms:W3CDTF">2026-02-28T22:47:53Z</dcterms:created>
  <dcterms:modified xsi:type="dcterms:W3CDTF">2026-02-28T22:47:53Z</dcterms:modified>
</cp:coreProperties>
</file>